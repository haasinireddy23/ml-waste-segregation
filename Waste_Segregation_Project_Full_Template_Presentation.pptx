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Waste Segregation Image Classifier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AI-based image classification into biodegradable, recyclable and hazardous waste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t>2520030285   Arjun Tomar</a:t>
            </a:r>
            <a:endParaRPr lang="en-US" sz="1450" dirty="0"/>
          </a:p>
          <a:p>
            <a:pPr>
              <a:spcAft>
                <a:spcPts val="200"/>
              </a:spcAft>
            </a:pPr>
            <a:r>
              <a:t>2520030265   Haasini Reddy</a:t>
            </a:r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Dr. G S Raghavendra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Department of CSE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t>KLH Bachupally Campus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B.Tech II Year  |  Minor Project - Review 1  |  Academic Year 2026-27  |  Date: 13-10-2026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sz="850"/>
              <a:t>What is the domain?</a:t>
            </a:r>
            <a:endParaRPr lang="en-US" sz="1500" dirty="0"/>
          </a:p>
          <a:p>
            <a:pPr>
              <a:spcAft>
                <a:spcPts val="200"/>
              </a:spcAft>
            </a:pPr>
            <a:r>
              <a:rPr sz="850"/>
              <a:t>Computer vision applies machine-learning models to understand images. Waste classification uses visual patterns to identify the likely type of discarded item.</a:t>
            </a:r>
          </a:p>
          <a:p>
            <a:pPr>
              <a:spcAft>
                <a:spcPts val="200"/>
              </a:spcAft>
            </a:pPr>
            <a:r>
              <a:rPr sz="850"/>
              <a:t>Why is it relevant today?</a:t>
            </a:r>
          </a:p>
          <a:p>
            <a:pPr>
              <a:spcAft>
                <a:spcPts val="200"/>
              </a:spcAft>
            </a:pPr>
            <a:r>
              <a:rPr sz="850"/>
              <a:t>Correct segregation supports recycling, organic-waste processing and safer handling of batteries and electronic waste. Manual sorting can be slow and inconsistent.</a:t>
            </a:r>
          </a:p>
          <a:p>
            <a:pPr>
              <a:spcAft>
                <a:spcPts val="200"/>
              </a:spcAft>
            </a:pPr>
            <a:r>
              <a:rPr sz="850"/>
              <a:t>Where does our project fit?</a:t>
            </a:r>
          </a:p>
          <a:p>
            <a:pPr>
              <a:spcAft>
                <a:spcPts val="200"/>
              </a:spcAft>
            </a:pPr>
            <a:r>
              <a:rPr sz="850"/>
              <a:t>We classify a user-uploaded waste image into Biodegradable, Recyclable or Hazardous using a CNN and transfer learning.</a:t>
            </a:r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t>PROJECT FLOW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t>Waste image → preprocessing → trained image model → predicted category + confidence</a:t>
            </a:r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tip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Project scope: image-level classification, not automatic physical sorting. Prediction confidence is not a guarantee of correct disposal.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“Waste items are often placed in the wrong bin because visual identification and segregation are inconsistent, reducing recycling efficiency and potentially exposing people to hazardous waste.”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Households, campus users and waste workers who need quick guidance on sorting discarded items.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Wrong sorting contaminates recyclables and can mix batteries or e-waste with ordinary waste. We do not claim a monetary cost.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An image-based assistant can offer a quick first suggestion through a simple upload interface, with human judgement still required.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Selected peer-reviewed studies and foundational work; the final column highlights limitations relevant to our scope.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S.No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Author &amp; Year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Title / Technique Used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Dataset / Tools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Key Findings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50" b="1"/>
                        <a:t>Limitation / Gap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1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Zhang et al. (2021)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Recyclable waste image recognition using deep learning / residual network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Waste images; deep learning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Automated feature learning can improve recyclable-item recognition.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Focuses on recyclable waste; not the same three broad classes used in our project.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2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Wang et al. (2021)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Domestic refuse classification using transfer learning and CNN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ResNet-50; transfer learning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Transfer learning is useful where training data and compute are limited.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Medical-institution waste context; categories and deployment differ from our use case.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3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Shreya et al. (2023)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Technical solutions for waste classification and management: mini-review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Literature review; TrashNet studies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Highlights the importance of dataset size, class design and evaluation.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Review identifies dataset limitations; does not provide our specific three-class user interface.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4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A Survey (IEEE Access, 2022)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Survey of waste detection and classification using deep learning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Multiple datasets and DL methods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Organizes methods, datasets and open challenges across waste-classification tasks.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700"/>
                        <a:t>Broad survey; practical performance depends on chosen dataset and real-world image variation.</a:t>
                      </a:r>
                    </a:p>
                  </a:txBody>
                  <a:tcPr marL="36576" marR="36576" marT="22860" marB="2286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The studies support image-based deep learning, but dataset differences and category definitions make direct accuracy comparisons unreliable.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Many benchmark datasets contain narrow item classes or controlled backgrounds; our chosen dataset’s labels must be mapped carefully into three practical categories.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A baseline CNN gives a useful reference, but performance can differ by class. Recyclable items were the weakest class in our initial test.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A trained model alone is less useful without an easy way to submit a photo and see the predicted category.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We combine a three-category classifier with a simple image-upload demo and evaluate class-wise performance. The project does not claim to solve all real-world disposal cases.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is a sentence that begins with "No existing work has..." or "Existing work does not..."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every gap here must come from the last column of the literature survey table. A gap you cannot trace to a paper will be rejected by the panel.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3-4 objectives. Each one must start with an action verb and be something you can demonstrate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buNone/>
            </a:pPr>
            <a:r>
              <a:t>Prepare a labelled waste-image dataset and map its source labels into Biodegradable, Recyclable and Hazardous categories.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buNone/>
            </a:pPr>
            <a:r>
              <a:t>Build a baseline CNN and adapt a pretrained ResNet50 model using transfer learning; MobileNetV2 comparison remains planned.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buNone/>
            </a:pPr>
            <a:r>
              <a:t>Evaluate using test accuracy, precision, recall, F1-score and a confusion matrix; report results only after test evaluation.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pPr indent="0" marL="0">
              <a:buNone/>
            </a:pPr>
            <a:r>
              <a:t>Demonstrate image upload and instant predicted-category output through a lightweight web interface.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Objectives 1, 2 and the first working interface are partially/completed; MobileNetV2 and final comparison remain to be finished.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Upload a JPG/PNG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1000"/>
              <a:t>waste image</a:t>
            </a:r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900"/>
              <a:t>RGB conversion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900"/>
              <a:t>Resize to 224 × 224</a:t>
            </a:r>
          </a:p>
          <a:p>
            <a:pPr>
              <a:spcAft>
                <a:spcPts val="100"/>
              </a:spcAft>
            </a:pPr>
            <a:r>
              <a:rPr sz="900"/>
              <a:t>Prepare model input</a:t>
            </a:r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900"/>
              <a:t>Baseline CNN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900"/>
              <a:t>ResNet50 transfer learning</a:t>
            </a:r>
          </a:p>
          <a:p>
            <a:pPr>
              <a:spcAft>
                <a:spcPts val="100"/>
              </a:spcAft>
            </a:pPr>
            <a:r>
              <a:rPr sz="900"/>
              <a:t>MobileNetV2 planned</a:t>
            </a:r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900"/>
              <a:t>Predicted class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900"/>
              <a:t>Class scores / confidence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IMAGE UPLOAD → PREPROCESSING → MODEL INFERENCE → CLASS SCORES → PREDICTED CATEGORY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arrow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Training runs in Google Colab. The current Gradio share link is temporary and works only while the runtime remains active.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Working dataset: 8,996 images. Source labels are mapped into the three project classes. The dataset differs from the sources named in the approved abstract.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Inspect labels and class counts; resize to 224 × 224; split train/validation/test; apply augmentation where configured.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CNN trained for 3 epochs. ResNet50 trained for 2 epochs with a new classification head. MobileNetV2 comparison is pending.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Gradio accepts an image and displays class scores. Current demo is in Colab; the shared URL is temporary.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900"/>
              <a:t>Language: Python</a:t>
            </a:r>
            <a:endParaRPr lang="en-US" sz="1350" dirty="0"/>
          </a:p>
          <a:p>
            <a:pPr>
              <a:spcAft>
                <a:spcPts val="200"/>
              </a:spcAft>
            </a:pPr>
            <a:r>
              <a:rPr sz="900"/>
              <a:t>Notebook / runtime: Google Colab</a:t>
            </a:r>
          </a:p>
          <a:p>
            <a:pPr>
              <a:spcAft>
                <a:spcPts val="200"/>
              </a:spcAft>
            </a:pPr>
            <a:r>
              <a:rPr sz="900"/>
              <a:t>Deep learning: TensorFlow / Keras</a:t>
            </a:r>
          </a:p>
          <a:p>
            <a:pPr>
              <a:spcAft>
                <a:spcPts val="200"/>
              </a:spcAft>
            </a:pPr>
            <a:r>
              <a:rPr sz="900"/>
              <a:t>Image handling: PIL, NumPy</a:t>
            </a:r>
          </a:p>
          <a:p>
            <a:pPr>
              <a:spcAft>
                <a:spcPts val="200"/>
              </a:spcAft>
            </a:pPr>
            <a:r>
              <a:rPr sz="900"/>
              <a:t>Evaluation: scikit-learn (classification report, confusion matrix)</a:t>
            </a:r>
          </a:p>
          <a:p>
            <a:pPr>
              <a:spcAft>
                <a:spcPts val="200"/>
              </a:spcAft>
            </a:pPr>
            <a:r>
              <a:rPr sz="900"/>
              <a:t>Interface: Gradio</a:t>
            </a:r>
          </a:p>
          <a:p>
            <a:pPr>
              <a:spcAft>
                <a:spcPts val="200"/>
              </a:spcAft>
            </a:pPr>
            <a:r>
              <a:rPr sz="900"/>
              <a:t>Model input: RGB image resized to 224 × 224</a:t>
            </a:r>
          </a:p>
          <a:p>
            <a:pPr>
              <a:spcAft>
                <a:spcPts val="200"/>
              </a:spcAft>
            </a:pPr>
            <a:r>
              <a:rPr sz="900"/>
              <a:t>Storage: Google Drive / Colab files</a:t>
            </a:r>
          </a:p>
          <a:p>
            <a:pPr>
              <a:spcAft>
                <a:spcPts val="200"/>
              </a:spcAft>
            </a:pPr>
            <a:r>
              <a:rPr sz="900"/>
              <a:t>Version control: Not yet configured</a:t>
            </a: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sz="900"/>
              <a:t>Compute: Google Colab CPU runtime used for current runs</a:t>
            </a:r>
            <a:endParaRPr lang="en-US" sz="1350" dirty="0"/>
          </a:p>
          <a:p>
            <a:pPr>
              <a:spcAft>
                <a:spcPts val="200"/>
              </a:spcAft>
            </a:pPr>
            <a:r>
              <a:rPr sz="900"/>
              <a:t>GPU: Not required for the reported baseline; training is slower on CPU</a:t>
            </a:r>
          </a:p>
          <a:p>
            <a:pPr>
              <a:spcAft>
                <a:spcPts val="200"/>
              </a:spcAft>
            </a:pPr>
            <a:r>
              <a:rPr sz="900"/>
              <a:t>Input: RGB waste images</a:t>
            </a:r>
          </a:p>
          <a:p>
            <a:pPr>
              <a:spcAft>
                <a:spcPts val="200"/>
              </a:spcAft>
            </a:pPr>
            <a:r>
              <a:rPr sz="900"/>
              <a:t>Deployment: temporary Gradio share link from Colab</a:t>
            </a:r>
          </a:p>
          <a:p>
            <a:pPr>
              <a:spcAft>
                <a:spcPts val="200"/>
              </a:spcAft>
            </a:pPr>
            <a:r>
              <a:rPr sz="900"/>
              <a:t>Hardware sensors: none</a:t>
            </a:r>
          </a:p>
          <a:p>
            <a:pPr>
              <a:spcAft>
                <a:spcPts val="200"/>
              </a:spcAft>
            </a:pPr>
            <a:r>
              <a:rPr sz="900"/>
              <a:t>Database: none required for this prototype</a:t>
            </a:r>
          </a:p>
          <a:p>
            <a:pPr>
              <a:spcAft>
                <a:spcPts val="200"/>
              </a:spcAft>
            </a:pPr>
            <a:r>
              <a:rPr sz="900"/>
              <a:t>Saved model: resnet50_waste_classifier.keras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900"/>
              <a:t>In progress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900"/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900"/>
              <a:t>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800"/>
              <a:t>CNN + ResNet50 trained;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800"/>
              <a:t>MobileNetV2 pending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800"/>
              <a:t>Gradio demo prepared;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800"/>
              <a:t>final link check pending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sz="800"/>
              <a:t>CNN evaluated;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800"/>
              <a:t>ResNet50 test metrics pending</a:t>
            </a:r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800"/>
              <a:t>CURRENT RESULTS</a:t>
            </a:r>
            <a:endParaRPr lang="en-US" sz="1200" dirty="0"/>
          </a:p>
          <a:p>
            <a:pPr>
              <a:spcAft>
                <a:spcPts val="100"/>
              </a:spcAft>
            </a:pPr>
            <a:r>
              <a:rPr sz="800"/>
              <a:t>Baseline CNN: 74.56% test accuracy; macro F1 74.77%; weighted F1 74.42% (1,352 test images).</a:t>
            </a:r>
          </a:p>
          <a:p>
            <a:pPr>
              <a:spcAft>
                <a:spcPts val="100"/>
              </a:spcAft>
            </a:pPr>
            <a:r>
              <a:rPr sz="800"/>
              <a:t>ResNet50 validation accuracy: 98.59% after epoch 1; 98.52% after epoch 2. Final test accuracy is not confirmed.</a:t>
            </a:r>
          </a:p>
          <a:p>
            <a:pPr>
              <a:spcAft>
                <a:spcPts val="100"/>
              </a:spcAft>
            </a:pPr>
            <a:r>
              <a:rPr sz="800"/>
              <a:t>One food-scrap example was predicted as Biodegradable at 100% displayed confidence; this is one example, not a general accuracy measure.</a:t>
            </a:r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800"/>
              <a:t>Done: baseline CNN, initial ResNet50 training, saved model and single-image prediction. Next: finish evaluation, MobileNetV2 and fair model comparison.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Title, abstract and team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Literature review, gap and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Dataset prepared; CNN and initial ResNet50 demo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1000"/>
              <a:t>Complete ResNet50 testing, MobileNetV2, UI validation and final report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sz="900"/>
              <a:t>Status as of 13-Oct-2026. Update dates and completion marks to match the official review calendar.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pPr indent="0" marL="0">
              <a:buNone/>
            </a:pPr>
            <a:r>
              <a:rPr sz="900"/>
              <a:t>Next: verify test metrics, run MobileNetV2, compare class-wise precision/recall/F1, and test varied real-world images.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Classify an uploaded waste image into three categories and show class scores.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Baseline CNN test accuracy: 74.56%. Final ResNet50 test accuracy is not confirmed.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1000"/>
              <a:t>Useful as a first-step guide for homes and campuses; local disposal rules still apply.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sz="900"/>
              <a:t>The project explores image-based waste segregation using a baseline CNN and ResNet50 transfer learning. The CNN reached 74.56% test accuracy. ResNet50 training is complete for two epochs, but final test metrics and MobileNetV2 comparison remain pending. Future work will focus on balanced class-wise performance, broader real-world images and mobile/edge deployment.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IEEE-style references. Dataset source used in the current implementation differs from the datasets named in the approved abstract; this should be clarified in the final report.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850"/>
              <a:t>[1] Q. Zhang, X. Zhang, X. Mu, Z. Wang, R. Tian, X. Liu, and X. Liu, “Recyclable waste image recognition based on deep learning,” Resources, Conservation and Recycling, vol. 171, art. 105636, 2021, doi: 10.1016/j.resconrec.2021.105636.</a:t>
            </a:r>
            <a:endParaRPr lang="en-US" sz="1300" dirty="0"/>
          </a:p>
          <a:p>
            <a:pPr>
              <a:spcAft>
                <a:spcPts val="200"/>
              </a:spcAft>
            </a:pPr>
            <a:r>
              <a:rPr sz="850"/>
              <a:t>[2] “Classification of Domestic Refuse in Medical Institutions Based on Transfer Learning and Convolutional Neural Network,” Computational Materials/Engineering-related journal article, 2021, doi: 10.32604/cmes.2021.014119.</a:t>
            </a:r>
          </a:p>
          <a:p>
            <a:pPr>
              <a:spcAft>
                <a:spcPts val="200"/>
              </a:spcAft>
            </a:pPr>
            <a:r>
              <a:rPr sz="850"/>
              <a:t>[3] S. M., V. N. Y., J. Katyal, and R. R., “Technical solutions for waste classification and management: A mini-review,” Waste Management &amp; Research, 2023, doi: 10.1177/0734242X221135262.</a:t>
            </a:r>
          </a:p>
          <a:p>
            <a:pPr>
              <a:spcAft>
                <a:spcPts val="200"/>
              </a:spcAft>
            </a:pPr>
            <a:r>
              <a:rPr sz="850"/>
              <a:t>[4] “A Survey on Waste Detection and Classification Using Deep Learning,” IEEE Access, vol. 10, pp. 128151–128165, 2022, doi: 10.1109/ACCESS.2022.3226682.</a:t>
            </a:r>
          </a:p>
          <a:p>
            <a:pPr>
              <a:spcAft>
                <a:spcPts val="200"/>
              </a:spcAft>
            </a:pPr>
            <a:r>
              <a:rPr sz="850"/>
              <a:t>[5] M. Sandler, A. Howard, M. Zhu, A. Zhmoginov, and L.-C. Chen, “MobileNetV2: Inverted Residuals and Linear Bottlenecks,” in Proc. IEEE/CVF CVPR, 2018, pp. 4510–4520.</a:t>
            </a:r>
          </a:p>
          <a:p>
            <a:pPr>
              <a:spcAft>
                <a:spcPts val="200"/>
              </a:spcAft>
            </a:pPr>
            <a:r>
              <a:rPr sz="850"/>
              <a:t>[6] K. He, X. Zhang, S. Ren, and J. Sun, “Deep Residual Learning for Image Recognition,” in Proc. IEEE CVPR, 2016, pp. 770–778.</a:t>
            </a:r>
          </a:p>
          <a:p>
            <a:pPr>
              <a:spcAft>
                <a:spcPts val="200"/>
              </a:spcAft>
            </a:pPr>
            <a:r>
              <a:rPr sz="850"/>
              <a:t>[7] G. Thung and M. Yang, “Classification of Trash for Recyclability Status,” Stanford University project report, 2016. (TrashNet dataset background.)</a:t>
            </a:r>
          </a:p>
          <a:p>
            <a:pPr>
              <a:spcAft>
                <a:spcPts val="200"/>
              </a:spcAft>
            </a:pPr>
            <a:r>
              <a:rPr sz="850"/>
              <a:t>[8] NexTech14 Waste Dataset, Mendeley Data, version 1, 2025, doi: 10.17632/p6hgv27jh4.1.</a:t>
            </a:r>
          </a:p>
          <a:p>
            <a:pPr>
              <a:spcAft>
                <a:spcPts val="200"/>
              </a:spcAft>
            </a:pPr>
            <a:r>
              <a:rPr sz="850"/>
              <a:t>[9] F. Chollet, “Xception: Deep Learning with Depthwise Separable Convolutions,” in Proc. IEEE CVPR, 2017, pp. 1251–1258.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sz="900"/>
              <a:t>References [1]–[4] are the main waste-classification literature. [5]–[6] describe model architectures; [7]–[8] document dataset context. Verify complete author metadata against the publisher pages before submitting the final report.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t>Team: Arjun Tomar (2520030285) | Haasini Reddy (2520030265)   Guide: Dr. G S Raghavendra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subject>PptxGenJS Presentation</dc:subject>
  <dc:creator>Dept. of CSE, KLH Bachupally</dc:creator>
  <cp:lastModifiedBy>Dept. of CSE, KLH Bachupally</cp:lastModifiedBy>
  <cp:revision>1</cp:revision>
  <dcterms:created xsi:type="dcterms:W3CDTF">2026-09-16T05:47:29Z</dcterms:created>
  <dcterms:modified xsi:type="dcterms:W3CDTF">2026-09-16T05:47:29Z</dcterms:modified>
</cp:coreProperties>
</file>